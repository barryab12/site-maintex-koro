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64"/>
    <p:restoredTop sz="94719"/>
  </p:normalViewPr>
  <p:slideViewPr>
    <p:cSldViewPr snapToGrid="0" snapToObjects="1">
      <p:cViewPr varScale="1">
        <p:scale>
          <a:sx n="148" d="100"/>
          <a:sy n="148" d="100"/>
        </p:scale>
        <p:origin x="104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56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rPr dirty="0" err="1"/>
              <a:t>Maintex</a:t>
            </a:r>
            <a:r>
              <a:rPr dirty="0"/>
              <a:t>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BBD5FF"/>
                </a:solidFill>
                <a:latin typeface="Calibri"/>
              </a:defRPr>
            </a:pPr>
            <a:r>
              <a:t>Intelligence Artificielle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474720"/>
            <a:ext cx="2743200" cy="45720"/>
          </a:xfrm>
          <a:prstGeom prst="rect">
            <a:avLst/>
          </a:prstGeom>
          <a:solidFill>
            <a:srgbClr val="BB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DE8FF"/>
                </a:solidFill>
                <a:latin typeface="Calibri"/>
              </a:defRPr>
            </a:pPr>
            <a:r>
              <a:rPr dirty="0"/>
              <a:t>18 </a:t>
            </a:r>
            <a:r>
              <a:rPr dirty="0" err="1"/>
              <a:t>fonctionnalités</a:t>
            </a:r>
            <a:r>
              <a:rPr dirty="0"/>
              <a:t> pour transformer </a:t>
            </a:r>
            <a:r>
              <a:rPr dirty="0" err="1"/>
              <a:t>votre</a:t>
            </a:r>
            <a:r>
              <a:rPr dirty="0"/>
              <a:t> maintenance</a:t>
            </a:r>
            <a:br>
              <a:rPr dirty="0"/>
            </a:b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centre</a:t>
            </a:r>
            <a:r>
              <a:rPr dirty="0"/>
              <a:t> de profit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058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BBFF"/>
                </a:solidFill>
                <a:latin typeface="Calibri"/>
              </a:defRPr>
            </a:pPr>
            <a:r>
              <a:rPr dirty="0"/>
              <a:t>BBC</a:t>
            </a:r>
            <a:r>
              <a:rPr lang="en-US" dirty="0"/>
              <a:t> &amp;</a:t>
            </a:r>
            <a:r>
              <a:rPr dirty="0"/>
              <a:t> PARTNERS</a:t>
            </a:r>
            <a:r>
              <a:rPr lang="en-US" dirty="0"/>
              <a:t> </a:t>
            </a:r>
            <a:r>
              <a:rPr dirty="0"/>
              <a:t> •  Avril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 Le constat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200400" cy="22860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1A56DB"/>
                </a:solidFill>
                <a:latin typeface="Calibri"/>
              </a:defRPr>
            </a:pPr>
            <a:r>
              <a:t>65%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Calibri"/>
              </a:defRPr>
            </a:pPr>
            <a:r>
              <a:t>des équipes maintenance</a:t>
            </a:r>
            <a:br/>
            <a:r>
              <a:t>prévoient d'adopter l'IA</a:t>
            </a:r>
            <a:br/>
            <a:r>
              <a:t>d'ici fin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371600"/>
            <a:ext cx="3200400" cy="22860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0" y="1554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E53935"/>
                </a:solidFill>
                <a:latin typeface="Calibri"/>
              </a:defRPr>
            </a:pPr>
            <a:r>
              <a:t>3-5x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5603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Calibri"/>
              </a:defRPr>
            </a:pPr>
            <a:r>
              <a:rPr dirty="0"/>
              <a:t>plus </a:t>
            </a:r>
            <a:r>
              <a:rPr dirty="0" err="1"/>
              <a:t>cher</a:t>
            </a:r>
            <a:r>
              <a:rPr dirty="0"/>
              <a:t> : le </a:t>
            </a:r>
            <a:r>
              <a:rPr dirty="0" err="1"/>
              <a:t>coût</a:t>
            </a:r>
            <a:br>
              <a:rPr dirty="0"/>
            </a:br>
            <a:r>
              <a:rPr dirty="0" err="1"/>
              <a:t>d'une</a:t>
            </a:r>
            <a:r>
              <a:rPr dirty="0"/>
              <a:t> panne corrective</a:t>
            </a:r>
            <a:br>
              <a:rPr dirty="0"/>
            </a:br>
            <a:r>
              <a:rPr dirty="0"/>
              <a:t>vs </a:t>
            </a:r>
            <a:r>
              <a:rPr dirty="0" err="1"/>
              <a:t>préventive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8412480" y="1371600"/>
            <a:ext cx="3200400" cy="22860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0" y="1554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43A047"/>
                </a:solidFill>
                <a:latin typeface="Calibri"/>
              </a:defRPr>
            </a:pPr>
            <a:r>
              <a:t>12 Mds $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560320"/>
            <a:ext cx="3200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marché</a:t>
            </a:r>
            <a:r>
              <a:rPr dirty="0"/>
              <a:t> IA </a:t>
            </a:r>
            <a:r>
              <a:rPr lang="en-US" dirty="0"/>
              <a:t>de la </a:t>
            </a:r>
            <a:r>
              <a:rPr dirty="0"/>
              <a:t>maintenance</a:t>
            </a:r>
            <a:br>
              <a:rPr dirty="0"/>
            </a:br>
            <a:r>
              <a:rPr dirty="0" err="1"/>
              <a:t>d'ici</a:t>
            </a:r>
            <a:r>
              <a:rPr dirty="0"/>
              <a:t> 2026 (+33%/an)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10515600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rPr dirty="0"/>
              <a:t>Vos </a:t>
            </a:r>
            <a:r>
              <a:rPr dirty="0" err="1"/>
              <a:t>techniciens</a:t>
            </a:r>
            <a:r>
              <a:rPr lang="en-US" dirty="0"/>
              <a:t> </a:t>
            </a:r>
            <a:r>
              <a:rPr dirty="0" err="1"/>
              <a:t>perdent</a:t>
            </a:r>
            <a:r>
              <a:rPr dirty="0"/>
              <a:t> du temps </a:t>
            </a:r>
            <a:r>
              <a:rPr dirty="0" err="1"/>
              <a:t>à</a:t>
            </a:r>
            <a:r>
              <a:rPr dirty="0"/>
              <a:t> </a:t>
            </a:r>
            <a:r>
              <a:rPr dirty="0" err="1"/>
              <a:t>chercher</a:t>
            </a:r>
            <a:r>
              <a:rPr dirty="0"/>
              <a:t> des </a:t>
            </a:r>
            <a:r>
              <a:rPr dirty="0" err="1"/>
              <a:t>informations</a:t>
            </a:r>
            <a:r>
              <a:rPr dirty="0"/>
              <a:t>.</a:t>
            </a:r>
            <a:br>
              <a:rPr dirty="0"/>
            </a:br>
            <a:r>
              <a:rPr dirty="0"/>
              <a:t>Vos managers </a:t>
            </a:r>
            <a:r>
              <a:rPr dirty="0" err="1"/>
              <a:t>n'ont</a:t>
            </a:r>
            <a:r>
              <a:rPr dirty="0"/>
              <a:t> pas de vision </a:t>
            </a:r>
            <a:r>
              <a:rPr dirty="0" err="1"/>
              <a:t>synthétique</a:t>
            </a:r>
            <a:r>
              <a:rPr dirty="0"/>
              <a:t> du parc.</a:t>
            </a:r>
            <a:br>
              <a:rPr dirty="0"/>
            </a:br>
            <a:r>
              <a:rPr dirty="0"/>
              <a:t>Les </a:t>
            </a:r>
            <a:r>
              <a:rPr dirty="0" err="1"/>
              <a:t>pannes</a:t>
            </a:r>
            <a:r>
              <a:rPr dirty="0"/>
              <a:t> </a:t>
            </a:r>
            <a:r>
              <a:rPr dirty="0" err="1"/>
              <a:t>arrivent</a:t>
            </a:r>
            <a:r>
              <a:rPr dirty="0"/>
              <a:t> sans </a:t>
            </a:r>
            <a:r>
              <a:rPr dirty="0" err="1"/>
              <a:t>prévenir</a:t>
            </a:r>
            <a:r>
              <a:rPr dirty="0"/>
              <a:t>. Les </a:t>
            </a:r>
            <a:r>
              <a:rPr dirty="0" err="1"/>
              <a:t>manuels</a:t>
            </a:r>
            <a:r>
              <a:rPr dirty="0"/>
              <a:t> </a:t>
            </a:r>
            <a:r>
              <a:rPr dirty="0" err="1"/>
              <a:t>restent</a:t>
            </a:r>
            <a:r>
              <a:rPr dirty="0"/>
              <a:t> dans les </a:t>
            </a:r>
            <a:r>
              <a:rPr dirty="0" err="1"/>
              <a:t>tiroirs</a:t>
            </a:r>
            <a:r>
              <a:rPr dirty="0"/>
              <a:t>.</a:t>
            </a:r>
            <a:br>
              <a:rPr dirty="0"/>
            </a:br>
            <a:br>
              <a:rPr dirty="0"/>
            </a:br>
            <a:r>
              <a:rPr dirty="0" err="1"/>
              <a:t>Maintex</a:t>
            </a:r>
            <a:r>
              <a:rPr dirty="0"/>
              <a:t> IA </a:t>
            </a:r>
            <a:r>
              <a:rPr dirty="0" err="1"/>
              <a:t>résout</a:t>
            </a:r>
            <a:r>
              <a:rPr dirty="0"/>
              <a:t> </a:t>
            </a:r>
            <a:r>
              <a:rPr dirty="0" err="1"/>
              <a:t>ces</a:t>
            </a:r>
            <a:r>
              <a:rPr dirty="0"/>
              <a:t> </a:t>
            </a:r>
            <a:r>
              <a:rPr dirty="0" err="1"/>
              <a:t>problèmes</a:t>
            </a:r>
            <a:r>
              <a:rPr dirty="0"/>
              <a:t> — </a:t>
            </a:r>
            <a:r>
              <a:rPr dirty="0" err="1"/>
              <a:t>fonctionnalité</a:t>
            </a:r>
            <a:r>
              <a:rPr dirty="0"/>
              <a:t> par </a:t>
            </a:r>
            <a:r>
              <a:rPr dirty="0" err="1"/>
              <a:t>fonctionnalité</a:t>
            </a:r>
            <a:r>
              <a:rPr dirty="0"/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309360"/>
            <a:ext cx="109728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8888"/>
                </a:solidFill>
                <a:latin typeface="Calibri"/>
              </a:defRPr>
            </a:pPr>
            <a:r>
              <a:rPr dirty="0" err="1"/>
              <a:t>Maintex</a:t>
            </a:r>
            <a:r>
              <a:rPr dirty="0"/>
              <a:t> IA</a:t>
            </a:r>
            <a:r>
              <a:rPr lang="en-US" dirty="0"/>
              <a:t> </a:t>
            </a:r>
            <a:r>
              <a:rPr dirty="0"/>
              <a:t>— Intelligence </a:t>
            </a:r>
            <a:r>
              <a:rPr dirty="0" err="1"/>
              <a:t>Artificielle</a:t>
            </a:r>
            <a:r>
              <a:rPr dirty="0"/>
              <a:t> — BBC </a:t>
            </a:r>
            <a:r>
              <a:rPr lang="en-US" dirty="0"/>
              <a:t>&amp; </a:t>
            </a:r>
            <a:r>
              <a:rPr dirty="0"/>
              <a:t>Partners — </a:t>
            </a:r>
            <a:r>
              <a:rPr dirty="0" err="1"/>
              <a:t>Confidentiel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   01. Chatbot IA — Assistant GMAO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669280" cy="1920240"/>
          </a:xfrm>
          <a:prstGeom prst="round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53935"/>
                </a:solidFill>
                <a:latin typeface="Calibri"/>
              </a:defRPr>
            </a:pPr>
            <a:r>
              <a:t>LE PROBLÈME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30352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rPr dirty="0"/>
              <a:t>Les </a:t>
            </a:r>
            <a:r>
              <a:rPr lang="en-US" dirty="0" err="1"/>
              <a:t>utilisateurs</a:t>
            </a:r>
            <a:r>
              <a:rPr dirty="0"/>
              <a:t> </a:t>
            </a:r>
            <a:r>
              <a:rPr dirty="0" err="1"/>
              <a:t>perdent</a:t>
            </a:r>
            <a:r>
              <a:rPr dirty="0"/>
              <a:t> du temps </a:t>
            </a:r>
            <a:r>
              <a:rPr dirty="0" err="1"/>
              <a:t>à</a:t>
            </a:r>
            <a:r>
              <a:rPr dirty="0"/>
              <a:t> </a:t>
            </a:r>
            <a:r>
              <a:rPr dirty="0" err="1"/>
              <a:t>naviguer</a:t>
            </a:r>
            <a:r>
              <a:rPr dirty="0"/>
              <a:t> dans les menus pour </a:t>
            </a:r>
            <a:r>
              <a:rPr dirty="0" err="1"/>
              <a:t>trouver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information : </a:t>
            </a:r>
            <a:r>
              <a:rPr dirty="0" err="1"/>
              <a:t>historique</a:t>
            </a:r>
            <a:r>
              <a:rPr dirty="0"/>
              <a:t> d'un </a:t>
            </a:r>
            <a:r>
              <a:rPr dirty="0" err="1"/>
              <a:t>équipement</a:t>
            </a:r>
            <a:r>
              <a:rPr dirty="0"/>
              <a:t>, </a:t>
            </a:r>
            <a:r>
              <a:rPr dirty="0" err="1"/>
              <a:t>procédure</a:t>
            </a:r>
            <a:r>
              <a:rPr dirty="0"/>
              <a:t> </a:t>
            </a:r>
            <a:r>
              <a:rPr dirty="0" err="1"/>
              <a:t>à</a:t>
            </a:r>
            <a:r>
              <a:rPr dirty="0"/>
              <a:t> </a:t>
            </a:r>
            <a:r>
              <a:rPr dirty="0" err="1"/>
              <a:t>suivre</a:t>
            </a:r>
            <a:r>
              <a:rPr dirty="0"/>
              <a:t>, </a:t>
            </a:r>
            <a:r>
              <a:rPr dirty="0" err="1"/>
              <a:t>état</a:t>
            </a:r>
            <a:r>
              <a:rPr dirty="0"/>
              <a:t> d'un stock.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200400"/>
            <a:ext cx="5669280" cy="19202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3A047"/>
                </a:solidFill>
                <a:latin typeface="Calibri"/>
              </a:defRPr>
            </a:pPr>
            <a:r>
              <a:t>LA SOLUTION MAINTEX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6616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Un assistant conversationnel accessible depuis chaque page de l'application. L'utilisateur pose sa question en français et reçoit une réponse en temps réel, basée sur les données réelles de sa société.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097280"/>
            <a:ext cx="5303520" cy="237744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1887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56DB"/>
                </a:solidFill>
                <a:latin typeface="Calibri"/>
              </a:defRPr>
            </a:pPr>
            <a:r>
              <a:t>BÉNÉFICES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55448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✓  Réponse en secondes vs navigation dans les menus (minutes)</a:t>
            </a:r>
            <a:br/>
            <a:r>
              <a:t>✓  Zéro formation requise — on écrit comme on parle</a:t>
            </a:r>
            <a:br/>
            <a:r>
              <a:t>✓  Disponible 24/7, sur chaque écran de l'application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749039"/>
            <a:ext cx="5303520" cy="13716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38404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8C00"/>
                </a:solidFill>
                <a:latin typeface="Calibri"/>
              </a:defRPr>
            </a:pPr>
            <a:r>
              <a:t>CE QUI NOUS DIFFÉRENCIE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20624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2B6B"/>
                </a:solidFill>
                <a:latin typeface="Calibri"/>
              </a:defRPr>
            </a:pPr>
            <a:r>
              <a:t>Streaming temps réel + données Maintex en direct + multi-tenant natif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8888"/>
                </a:solidFill>
                <a:latin typeface="Calibri"/>
              </a:defRPr>
            </a:pPr>
            <a:r>
              <a:t>Maintex IA — Intelligence Artificielle — 01/18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   02. Diagnostic Intelligent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669280" cy="1920240"/>
          </a:xfrm>
          <a:prstGeom prst="round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53935"/>
                </a:solidFill>
                <a:latin typeface="Calibri"/>
              </a:defRPr>
            </a:pPr>
            <a:r>
              <a:t>LE PROBLÈME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Face à une panne, le technicien dépend de son expérience personnelle. Les juniors sont perdus, les experts ne sont pas toujours disponibles, et les mêmes erreurs se répètent.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200400"/>
            <a:ext cx="5669280" cy="19202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3A047"/>
                </a:solidFill>
                <a:latin typeface="Calibri"/>
              </a:defRPr>
            </a:pPr>
            <a:r>
              <a:t>LA SOLUTION MAINTEX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6616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Un diagnostic automatique intégré dans le Bon de Travail. L'IA analyse le symptôme, consulte l'historique et la base SDR, et propose les causes probables avec les remèdes adaptés.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097280"/>
            <a:ext cx="5303520" cy="237744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1887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56DB"/>
                </a:solidFill>
                <a:latin typeface="Calibri"/>
              </a:defRPr>
            </a:pPr>
            <a:r>
              <a:t>BÉNÉFICES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55448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✓  Diagnostic en secondes vs heures d'investigation</a:t>
            </a:r>
            <a:br/>
            <a:r>
              <a:t>✓  Le savoir des experts est capturé et partagé (base SDR)</a:t>
            </a:r>
            <a:br/>
            <a:r>
              <a:t>✓  Chaque feedback technicien améliore les futures suggestions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749039"/>
            <a:ext cx="5303520" cy="13716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38404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8C00"/>
                </a:solidFill>
                <a:latin typeface="Calibri"/>
              </a:defRPr>
            </a:pPr>
            <a:r>
              <a:t>CE QUI NOUS DIFFÉRENCIE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20624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2B6B"/>
                </a:solidFill>
                <a:latin typeface="Calibri"/>
              </a:defRPr>
            </a:pPr>
            <a:r>
              <a:t>Double moteur : SDR instantané (&lt; 1s) + LLM contextuel quand nécessaire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8888"/>
                </a:solidFill>
                <a:latin typeface="Calibri"/>
              </a:defRPr>
            </a:pPr>
            <a:r>
              <a:t>Maintex IA — Intelligence Artificielle — 02/18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   03. Recherche en Langage Naturel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669280" cy="1920240"/>
          </a:xfrm>
          <a:prstGeom prst="round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53935"/>
                </a:solidFill>
                <a:latin typeface="Calibri"/>
              </a:defRPr>
            </a:pPr>
            <a:r>
              <a:t>LE PROBLÈME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Pour obtenir une information, il faut connaître le bon menu, les bons filtres, les bons écrans. Les utilisateurs occasionnels (direction, contrôle de gestion) sont bloqués.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200400"/>
            <a:ext cx="5669280" cy="19202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3A047"/>
                </a:solidFill>
                <a:latin typeface="Calibri"/>
              </a:defRPr>
            </a:pPr>
            <a:r>
              <a:t>LA SOLUTION MAINTEX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6616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Une barre de recherche intelligente accessible depuis chaque page. On pose sa question en français : l'IA traduit en requête structurée et retourne les résultats.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097280"/>
            <a:ext cx="5303520" cy="237744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1887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56DB"/>
                </a:solidFill>
                <a:latin typeface="Calibri"/>
              </a:defRPr>
            </a:pPr>
            <a:r>
              <a:t>BÉNÉFICES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55448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✓  Pas besoin de connaître la structure de Maintex</a:t>
            </a:r>
            <a:br/>
            <a:r>
              <a:t>✓  Supporte les agrégations : 'Nombre de BT par nature'</a:t>
            </a:r>
            <a:br/>
            <a:r>
              <a:t>✓  Sécurisé : whitelist stricte, pas d'accès SQL libre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749039"/>
            <a:ext cx="5303520" cy="13716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38404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8C00"/>
                </a:solidFill>
                <a:latin typeface="Calibri"/>
              </a:defRPr>
            </a:pPr>
            <a:r>
              <a:t>CE QUI NOUS DIFFÉRENCIE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20624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2B6B"/>
                </a:solidFill>
                <a:latin typeface="Calibri"/>
              </a:defRPr>
            </a:pPr>
            <a:r>
              <a:t>Recherche + agrégation + résolution FK automatique — pas un simple chatbot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8888"/>
                </a:solidFill>
                <a:latin typeface="Calibri"/>
              </a:defRPr>
            </a:pPr>
            <a:r>
              <a:t>Maintex IA — Intelligence Artificielle — 03/18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   04. Score de Santé Équipement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669280" cy="1920240"/>
          </a:xfrm>
          <a:prstGeom prst="round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53935"/>
                </a:solidFill>
                <a:latin typeface="Calibri"/>
              </a:defRPr>
            </a:pPr>
            <a:r>
              <a:t>LE PROBLÈME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Les responsables n'ont pas de vision synthétique de l'état du parc. Évaluer un équipement nécessite de croiser manuellement : pannes, coûts, MTBF, âge, criticité.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200400"/>
            <a:ext cx="5669280" cy="19202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3A047"/>
                </a:solidFill>
                <a:latin typeface="Calibri"/>
              </a:defRPr>
            </a:pPr>
            <a:r>
              <a:t>LA SOLUTION MAINTEX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6616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Un score de 0 à 100 calculé automatiquement pour chaque équipement, basé sur 6 critères pondérés. Visible directement sur la fiche et le Dashboard 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097280"/>
            <a:ext cx="5303520" cy="237744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1887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56DB"/>
                </a:solidFill>
                <a:latin typeface="Calibri"/>
              </a:defRPr>
            </a:pPr>
            <a:r>
              <a:t>BÉNÉFICES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55448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✓  Vision instantanée : vert (bon) / orange (à surveiller) / rouge (critique)</a:t>
            </a:r>
            <a:br/>
            <a:r>
              <a:t>✓  Priorisation objective des interventions</a:t>
            </a:r>
            <a:br/>
            <a:r>
              <a:t>✓  Facteurs détaillés + actions recommandées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749039"/>
            <a:ext cx="5303520" cy="13716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38404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8C00"/>
                </a:solidFill>
                <a:latin typeface="Calibri"/>
              </a:defRPr>
            </a:pPr>
            <a:r>
              <a:t>CE QUI NOUS DIFFÉRENCIE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20624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2B6B"/>
                </a:solidFill>
                <a:latin typeface="Calibri"/>
              </a:defRPr>
            </a:pPr>
            <a:r>
              <a:t>Calcul statistique pur — pas de LLM, instantané, reproductible, gratuit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8888"/>
                </a:solidFill>
                <a:latin typeface="Calibri"/>
              </a:defRPr>
            </a:pPr>
            <a:r>
              <a:t>Maintex IA — Intelligence Artificielle — 04/18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   05. Score Qualité Interventions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669280" cy="1920240"/>
          </a:xfrm>
          <a:prstGeom prst="round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53935"/>
                </a:solidFill>
                <a:latin typeface="Calibri"/>
              </a:defRPr>
            </a:pPr>
            <a:r>
              <a:t>LE PROBLÈME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Les BT sont souvent mal documentés : pas de symptôme, pas de diagnostic, pas de photos. Impossible de capitaliser sur l'expérience, les analyses sont faussées.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200400"/>
            <a:ext cx="5669280" cy="19202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3A047"/>
                </a:solidFill>
                <a:latin typeface="Calibri"/>
              </a:defRPr>
            </a:pPr>
            <a:r>
              <a:t>LA SOLUTION MAINTEX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6616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Un score automatique (0-100) pour chaque BT basé sur 9 critères de complétude. Il identifie exactement ce qui manque et pousse à mieux documenter.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097280"/>
            <a:ext cx="5303520" cy="237744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1887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56DB"/>
                </a:solidFill>
                <a:latin typeface="Calibri"/>
              </a:defRPr>
            </a:pPr>
            <a:r>
              <a:t>BÉNÉFICES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55448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✓  Objectif de score moyen &gt; 75 par équipe = levier managérial</a:t>
            </a:r>
            <a:br/>
            <a:r>
              <a:t>✓  Conformité : prouver la traçabilité aux auditeurs (ISO)</a:t>
            </a:r>
            <a:br/>
            <a:r>
              <a:t>✓  Note A/B/C/D/F lisible par tous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749039"/>
            <a:ext cx="5303520" cy="13716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38404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8C00"/>
                </a:solidFill>
                <a:latin typeface="Calibri"/>
              </a:defRPr>
            </a:pPr>
            <a:r>
              <a:t>CE QUI NOUS DIFFÉRENCIE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20624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2B6B"/>
                </a:solidFill>
                <a:latin typeface="Calibri"/>
              </a:defRPr>
            </a:pPr>
            <a:r>
              <a:t>Innovation unique — aucun concurrent GMAO ne propose cette fonctionnalité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8888"/>
                </a:solidFill>
                <a:latin typeface="Calibri"/>
              </a:defRPr>
            </a:pPr>
            <a:r>
              <a:t>Maintex IA — Intelligence Artificielle — 05/18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   06. Conseil Cycle de Vie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669280" cy="1920240"/>
          </a:xfrm>
          <a:prstGeom prst="round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53935"/>
                </a:solidFill>
                <a:latin typeface="Calibri"/>
              </a:defRPr>
            </a:pPr>
            <a:r>
              <a:t>LE PROBLÈME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Décider de continuer la maintenance ou remplacer un équipement est complexe. Il faut croiser âge, coûts cumulés, MTBF et prix de remplacement — des données dispersées.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200400"/>
            <a:ext cx="5669280" cy="19202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3A047"/>
                </a:solidFill>
                <a:latin typeface="Calibri"/>
              </a:defRPr>
            </a:pPr>
            <a:r>
              <a:t>LA SOLUTION MAINTEX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6616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Une analyse TCO complète en un clic : recommandation MAINTENIR / RÉNOVER / REMPLACER avec projections de coûts à 1, 3 et 5 ans et un plan d'action concret.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097280"/>
            <a:ext cx="5303520" cy="237744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1887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56DB"/>
                </a:solidFill>
                <a:latin typeface="Calibri"/>
              </a:defRPr>
            </a:pPr>
            <a:r>
              <a:t>BÉNÉFICES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55448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✓  Décision éclairée basée sur les chiffres, pas l'intuition</a:t>
            </a:r>
            <a:br/>
            <a:r>
              <a:t>✓  Argumentation chiffrée pour justifier un investissement</a:t>
            </a:r>
            <a:br/>
            <a:r>
              <a:t>✓  Comparaison avec la moyenne de la famille d'équipements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749039"/>
            <a:ext cx="5303520" cy="13716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38404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8C00"/>
                </a:solidFill>
                <a:latin typeface="Calibri"/>
              </a:defRPr>
            </a:pPr>
            <a:r>
              <a:t>CE QUI NOUS DIFFÉRENCIE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20624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2B6B"/>
                </a:solidFill>
                <a:latin typeface="Calibri"/>
              </a:defRPr>
            </a:pPr>
            <a:r>
              <a:t>Analyse TCO automatique + streaming temps réel + comparaison famille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8888"/>
                </a:solidFill>
                <a:latin typeface="Calibri"/>
              </a:defRPr>
            </a:pPr>
            <a:r>
              <a:t>Maintex IA — Intelligence Artificielle — 06/18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   07. Détection d'Anomalies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669280" cy="1920240"/>
          </a:xfrm>
          <a:prstGeom prst="round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53935"/>
                </a:solidFill>
                <a:latin typeface="Calibri"/>
              </a:defRPr>
            </a:pPr>
            <a:r>
              <a:t>LE PROBLÈME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Les dérives de fonctionnement passent inaperçues : compteur bloqué, dégradation accélérée, consommation anormale. Quand on les remarque, il est trop tard.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200400"/>
            <a:ext cx="5669280" cy="19202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3A047"/>
                </a:solidFill>
                <a:latin typeface="Calibri"/>
              </a:defRPr>
            </a:pPr>
            <a:r>
              <a:t>LA SOLUTION MAINTEX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6616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3 algorithmes statistiques (Z-Score, dérive, plateau) analysent les compteurs en tâche planifiée quotidienne. Les alertes apparaissent automatiquement sur le Dashboard.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097280"/>
            <a:ext cx="5303520" cy="237744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1887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56DB"/>
                </a:solidFill>
                <a:latin typeface="Calibri"/>
              </a:defRPr>
            </a:pPr>
            <a:r>
              <a:t>BÉNÉFICES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55448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✓  Surveillance 24/7 automatique, sans intervention humaine</a:t>
            </a:r>
            <a:br/>
            <a:r>
              <a:t>✓  Proactif : détecte les problèmes AVANT la panne</a:t>
            </a:r>
            <a:br/>
            <a:r>
              <a:t>✓  Seuils configurables par famille d'équipement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749039"/>
            <a:ext cx="5303520" cy="13716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38404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8C00"/>
                </a:solidFill>
                <a:latin typeface="Calibri"/>
              </a:defRPr>
            </a:pPr>
            <a:r>
              <a:t>CE QUI NOUS DIFFÉRENCIE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20624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2B6B"/>
                </a:solidFill>
                <a:latin typeface="Calibri"/>
              </a:defRPr>
            </a:pPr>
            <a:r>
              <a:t>100% statistique — fiable, reproductible, aucun coût de token LLM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8888"/>
                </a:solidFill>
                <a:latin typeface="Calibri"/>
              </a:defRPr>
            </a:pPr>
            <a:r>
              <a:t>Maintex IA — Intelligence Artificielle — 07/18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   08. BT Prédictifs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669280" cy="1920240"/>
          </a:xfrm>
          <a:prstGeom prst="round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53935"/>
                </a:solidFill>
                <a:latin typeface="Calibri"/>
              </a:defRPr>
            </a:pPr>
            <a:r>
              <a:t>LE PROBLÈME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La maintenance corrective coûte 3 à 5 fois plus cher que le préventif. Mais les plannings préventifs classiques sont basés sur des calendriers fixes, pas sur l'état réel.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200400"/>
            <a:ext cx="5669280" cy="19202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3A047"/>
                </a:solidFill>
                <a:latin typeface="Calibri"/>
              </a:defRPr>
            </a:pPr>
            <a:r>
              <a:t>LA SOLUTION MAINTEX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6616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L'IA propose des BT préventifs ciblés basés sur les données réelles. Chaque proposition passe par un workflow de validation humaine avant de devenir un vrai BT.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097280"/>
            <a:ext cx="5303520" cy="237744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1887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56DB"/>
                </a:solidFill>
                <a:latin typeface="Calibri"/>
              </a:defRPr>
            </a:pPr>
            <a:r>
              <a:t>BÉNÉFICES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55448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✓  Anticiper les pannes = réduire les coûts corrective de 30-50%</a:t>
            </a:r>
            <a:br/>
            <a:r>
              <a:t>✓  Human-in-the-Loop : l'IA propose, l'humain décide</a:t>
            </a:r>
            <a:br/>
            <a:r>
              <a:t>✓  Traçabilité complète : proposé → validé/rejeté → BT créé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749039"/>
            <a:ext cx="5303520" cy="13716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38404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8C00"/>
                </a:solidFill>
                <a:latin typeface="Calibri"/>
              </a:defRPr>
            </a:pPr>
            <a:r>
              <a:t>CE QUI NOUS DIFFÉRENCIE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20624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2B6B"/>
                </a:solidFill>
                <a:latin typeface="Calibri"/>
              </a:defRPr>
            </a:pPr>
            <a:r>
              <a:t>Workflow complet avec validation — pas d'automatisation aveugle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8888"/>
                </a:solidFill>
                <a:latin typeface="Calibri"/>
              </a:defRPr>
            </a:pPr>
            <a:r>
              <a:t>Maintex IA — Intelligence Artificielle — 08/18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   09. Générateur de Checklists IA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669280" cy="1920240"/>
          </a:xfrm>
          <a:prstGeom prst="round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53935"/>
                </a:solidFill>
                <a:latin typeface="Calibri"/>
              </a:defRPr>
            </a:pPr>
            <a:r>
              <a:t>LE PROBLÈME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Créer une gamme avec toutes ses tâches est long et fastidieux. Résultat : beaucoup de gammes restent vides ou incomplètes.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200400"/>
            <a:ext cx="5669280" cy="19202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3A047"/>
                </a:solidFill>
                <a:latin typeface="Calibri"/>
              </a:defRPr>
            </a:pPr>
            <a:r>
              <a:t>LA SOLUTION MAINTEX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6616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Un bouton 'Générer' dans la fiche gamme. L'IA crée instantanément les tâches ordonnées avec temps estimés, consignes de sécurité et outils requis.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097280"/>
            <a:ext cx="5303520" cy="237744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1887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56DB"/>
                </a:solidFill>
                <a:latin typeface="Calibri"/>
              </a:defRPr>
            </a:pPr>
            <a:r>
              <a:t>BÉNÉFICES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55448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✓  30 secondes vs 30 minutes de création manuelle</a:t>
            </a:r>
            <a:br/>
            <a:r>
              <a:t>✓  L'IA n'oublie pas les étapes (sécurité, consignation)</a:t>
            </a:r>
            <a:br/>
            <a:r>
              <a:t>✓  Tâches éditables — le technicien garde la main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749039"/>
            <a:ext cx="5303520" cy="13716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38404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8C00"/>
                </a:solidFill>
                <a:latin typeface="Calibri"/>
              </a:defRPr>
            </a:pPr>
            <a:r>
              <a:t>CE QUI NOUS DIFFÉRENCIE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20624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2B6B"/>
                </a:solidFill>
                <a:latin typeface="Calibri"/>
              </a:defRPr>
            </a:pPr>
            <a:r>
              <a:t>Intégré dans la fiche gamme — pas un outil séparé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8888"/>
                </a:solidFill>
                <a:latin typeface="Calibri"/>
              </a:defRPr>
            </a:pPr>
            <a:r>
              <a:t>Maintex IA — Intelligence Artificielle — 09/18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   10. Extraction Procédures depuis PDF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669280" cy="1920240"/>
          </a:xfrm>
          <a:prstGeom prst="round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53935"/>
                </a:solidFill>
                <a:latin typeface="Calibri"/>
              </a:defRPr>
            </a:pPr>
            <a:r>
              <a:t>LE PROBLÈME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Les manuels constructeurs contiennent des procédures précieuses, mais elles restent enfouies dans des PDF que personne ne lit. Les extraire manuellement prend des heures.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200400"/>
            <a:ext cx="5669280" cy="19202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3A047"/>
                </a:solidFill>
                <a:latin typeface="Calibri"/>
              </a:defRPr>
            </a:pPr>
            <a:r>
              <a:t>LA SOLUTION MAINTEX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6616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Un bouton sur chaque PDF attaché à un équipement. L'IA lit le document, identifie les procédures et les structure en gammes prêtes à être sauvegardées.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097280"/>
            <a:ext cx="5303520" cy="237744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1887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56DB"/>
                </a:solidFill>
                <a:latin typeface="Calibri"/>
              </a:defRPr>
            </a:pPr>
            <a:r>
              <a:t>BÉNÉFICES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55448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✓  5 gammes créées en 2 minutes vs des heures de saisie</a:t>
            </a:r>
            <a:br/>
            <a:r>
              <a:t>✓  Sauvegarde groupée avec choix de la famille de gamme</a:t>
            </a:r>
            <a:br/>
            <a:r>
              <a:t>✓  Traçabilité : chaque gamme est liée au PDF source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749039"/>
            <a:ext cx="5303520" cy="13716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38404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8C00"/>
                </a:solidFill>
                <a:latin typeface="Calibri"/>
              </a:defRPr>
            </a:pPr>
            <a:r>
              <a:t>CE QUI NOUS DIFFÉRENCIE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20624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2B6B"/>
                </a:solidFill>
                <a:latin typeface="Calibri"/>
              </a:defRPr>
            </a:pPr>
            <a:r>
              <a:t>Intégré dans la fiche équipement + sauvegarde en vraies gammes Maintex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8888"/>
                </a:solidFill>
                <a:latin typeface="Calibri"/>
              </a:defRPr>
            </a:pPr>
            <a:r>
              <a:t>Maintex IA — Intelligence Artificielle — 10/18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   11. Asset Snap — Photo → Fiche Équipement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669280" cy="1920240"/>
          </a:xfrm>
          <a:prstGeom prst="round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53935"/>
                </a:solidFill>
                <a:latin typeface="Calibri"/>
              </a:defRPr>
            </a:pPr>
            <a:r>
              <a:t>LE PROBLÈME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L'onboarding d'un nouveau parc est long : recopier les plaques signalétiques de chaque équipement prend des jours et génère des erreurs.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200400"/>
            <a:ext cx="5669280" cy="19202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3A047"/>
                </a:solidFill>
                <a:latin typeface="Calibri"/>
              </a:defRPr>
            </a:pPr>
            <a:r>
              <a:t>LA SOLUTION MAINTEX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6616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Photographier la plaque signalétique → l'IA extrait fabricant, modèle, n° série, puissance, année → les champs de la fiche sont pré-remplis.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097280"/>
            <a:ext cx="5303520" cy="237744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1887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56DB"/>
                </a:solidFill>
                <a:latin typeface="Calibri"/>
              </a:defRPr>
            </a:pPr>
            <a:r>
              <a:t>BÉNÉFICES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55448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✓  Des centaines de fiches créées en une journée</a:t>
            </a:r>
            <a:br/>
            <a:r>
              <a:t>✓  Zéro erreur de recopie</a:t>
            </a:r>
            <a:br/>
            <a:r>
              <a:t>✓  Mobile-friendly : le technicien crée la fiche sur le terrain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749039"/>
            <a:ext cx="5303520" cy="13716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38404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8C00"/>
                </a:solidFill>
                <a:latin typeface="Calibri"/>
              </a:defRPr>
            </a:pPr>
            <a:r>
              <a:t>CE QUI NOUS DIFFÉRENCIE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20624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2B6B"/>
                </a:solidFill>
                <a:latin typeface="Calibri"/>
              </a:defRPr>
            </a:pPr>
            <a:r>
              <a:t>OCR + LLM combinés + reconnaissance des marques Maintex existantes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8888"/>
                </a:solidFill>
                <a:latin typeface="Calibri"/>
              </a:defRPr>
            </a:pPr>
            <a:r>
              <a:t>Maintex IA — Intelligence Artificielle — 11/18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   12. Photo-to-Part — Photo → Fiche Article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669280" cy="1920240"/>
          </a:xfrm>
          <a:prstGeom prst="round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53935"/>
                </a:solidFill>
                <a:latin typeface="Calibri"/>
              </a:defRPr>
            </a:pPr>
            <a:r>
              <a:t>LE PROBLÈME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Identifier une pièce inconnue prend du temps : catalogues, fournisseurs, recherche dans les stocks. Et créer la fiche article est fastidieux.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200400"/>
            <a:ext cx="5669280" cy="19202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3A047"/>
                </a:solidFill>
                <a:latin typeface="Calibri"/>
              </a:defRPr>
            </a:pPr>
            <a:r>
              <a:t>LA SOLUTION MAINTEX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6616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Photographier la pièce → l'IA identifie le type, les caractéristiques et pré-remplit la fiche article.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097280"/>
            <a:ext cx="5303520" cy="237744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1887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56DB"/>
                </a:solidFill>
                <a:latin typeface="Calibri"/>
              </a:defRPr>
            </a:pPr>
            <a:r>
              <a:t>BÉNÉFICES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55448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✓  Le technicien identifie la pièce directement sur le terrain</a:t>
            </a:r>
            <a:br/>
            <a:r>
              <a:t>✓  Réduction des doublons dans le catalogue articles</a:t>
            </a:r>
            <a:br/>
            <a:r>
              <a:t>✓  Même infrastructure que Asset Snap (OCR + LLM)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749039"/>
            <a:ext cx="5303520" cy="13716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38404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8C00"/>
                </a:solidFill>
                <a:latin typeface="Calibri"/>
              </a:defRPr>
            </a:pPr>
            <a:r>
              <a:t>CE QUI NOUS DIFFÉRENCIE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20624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2B6B"/>
                </a:solidFill>
                <a:latin typeface="Calibri"/>
              </a:defRPr>
            </a:pPr>
            <a:r>
              <a:t>Identification terrain en temps réel — pas besoin de retourner au bureau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8888"/>
                </a:solidFill>
                <a:latin typeface="Calibri"/>
              </a:defRPr>
            </a:pPr>
            <a:r>
              <a:t>Maintex IA — Intelligence Artificielle — 12/18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   13. Suggestion Technicien IA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669280" cy="1920240"/>
          </a:xfrm>
          <a:prstGeom prst="round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53935"/>
                </a:solidFill>
                <a:latin typeface="Calibri"/>
              </a:defRPr>
            </a:pPr>
            <a:r>
              <a:t>LE PROBLÈME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L'affectation des techniciens repose sur l'habitude, pas sur les compétences réelles ni la charge de travail. Résultat : surcharge de certains, sous-utilisation d'autres.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200400"/>
            <a:ext cx="5669280" cy="19202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3A047"/>
                </a:solidFill>
                <a:latin typeface="Calibri"/>
              </a:defRPr>
            </a:pPr>
            <a:r>
              <a:t>LA SOLUTION MAINTEX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6616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L'IA calcule un score pour chaque technicien basé sur 4 critères : disponibilité (40%), compétences (30%), taux de succès (20%), charge (10%).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097280"/>
            <a:ext cx="5303520" cy="237744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1887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56DB"/>
                </a:solidFill>
                <a:latin typeface="Calibri"/>
              </a:defRPr>
            </a:pPr>
            <a:r>
              <a:t>BÉNÉFICES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55448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✓  Affectation optimale = réduction du temps de réponse</a:t>
            </a:r>
            <a:br/>
            <a:r>
              <a:t>✓  Équilibrage automatique de la charge de travail</a:t>
            </a:r>
            <a:br/>
            <a:r>
              <a:t>✓  Le score est transparent — la décision reste humaine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749039"/>
            <a:ext cx="5303520" cy="13716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38404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8C00"/>
                </a:solidFill>
                <a:latin typeface="Calibri"/>
              </a:defRPr>
            </a:pPr>
            <a:r>
              <a:t>CE QUI NOUS DIFFÉRENCIE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20624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2B6B"/>
                </a:solidFill>
                <a:latin typeface="Calibri"/>
              </a:defRPr>
            </a:pPr>
            <a:r>
              <a:t>Calcul statistique instantané — pas de LLM, résultat en &lt; 1 seconde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8888"/>
                </a:solidFill>
                <a:latin typeface="Calibri"/>
              </a:defRPr>
            </a:pPr>
            <a:r>
              <a:t>Maintex IA — Intelligence Artificielle — 13/18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   14. Rapports IA en Langage Naturel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669280" cy="1920240"/>
          </a:xfrm>
          <a:prstGeom prst="round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53935"/>
                </a:solidFill>
                <a:latin typeface="Calibri"/>
              </a:defRPr>
            </a:pPr>
            <a:r>
              <a:t>LE PROBLÈME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Créer un rapport nécessite de maîtriser les écrans d'édition et les filtres. La direction doit demander au service informatique pour obtenir des chiffres.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200400"/>
            <a:ext cx="5669280" cy="19202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3A047"/>
                </a:solidFill>
                <a:latin typeface="Calibri"/>
              </a:defRPr>
            </a:pPr>
            <a:r>
              <a:t>LA SOLUTION MAINTEX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6616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Poser une question (clavier ou voix) → l'IA génère un rapport avec graphique, tableau ET analyse automatique. 7 domaines, drill-down conversationnel, rapports sauvegardés.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097280"/>
            <a:ext cx="5303520" cy="237744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1887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56DB"/>
                </a:solidFill>
                <a:latin typeface="Calibri"/>
              </a:defRPr>
            </a:pPr>
            <a:r>
              <a:t>BÉNÉFICES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55448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✓  7 domaines : BT, équipements, activités, achats, stock, contrats</a:t>
            </a:r>
            <a:br/>
            <a:r>
              <a:t>✓  Insights IA automatiques : tendances, anomalies, recommandations</a:t>
            </a:r>
            <a:br/>
            <a:r>
              <a:t>✓  Drill-down conversationnel : affiner sans repartir de zéro</a:t>
            </a:r>
            <a:br/>
            <a:r>
              <a:t>✓  Saisie vocale gratuite + rapports sauvegardés avec replay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749039"/>
            <a:ext cx="5303520" cy="13716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38404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8C00"/>
                </a:solidFill>
                <a:latin typeface="Calibri"/>
              </a:defRPr>
            </a:pPr>
            <a:r>
              <a:t>CE QUI NOUS DIFFÉRENCIE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20624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2B6B"/>
                </a:solidFill>
                <a:latin typeface="Calibri"/>
              </a:defRPr>
            </a:pPr>
            <a:r>
              <a:t>Drill-down conversationnel unique — aucun concurrent GMAO ne le propose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8888"/>
                </a:solidFill>
                <a:latin typeface="Calibri"/>
              </a:defRPr>
            </a:pPr>
            <a:r>
              <a:t>Maintex IA — Intelligence Artificielle — 14/18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   15. Analyse Fournisseurs IA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669280" cy="1920240"/>
          </a:xfrm>
          <a:prstGeom prst="round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53935"/>
                </a:solidFill>
                <a:latin typeface="Calibri"/>
              </a:defRPr>
            </a:pPr>
            <a:r>
              <a:t>LE PROBLÈME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Évaluer un fournisseur nécessite de croiser commandes, livraisons, prix, contrats, qualité — des données dispersées dans plusieurs modules.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200400"/>
            <a:ext cx="5669280" cy="19202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3A047"/>
                </a:solidFill>
                <a:latin typeface="Calibri"/>
              </a:defRPr>
            </a:pPr>
            <a:r>
              <a:t>LA SOLUTION MAINTEX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6616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Un bouton 'Analyse IA' sur la fiche fournisseur. L'IA centralise toutes les données et produit : KPIs, top articles, score, points forts/faibles, recommandations.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097280"/>
            <a:ext cx="5303520" cy="237744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1887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56DB"/>
                </a:solidFill>
                <a:latin typeface="Calibri"/>
              </a:defRPr>
            </a:pPr>
            <a:r>
              <a:t>BÉNÉFICES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55448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✓  Base factuelle pour les négociations d'achat</a:t>
            </a:r>
            <a:br/>
            <a:r>
              <a:t>✓  Recommandations IA avec niveaux de priorité</a:t>
            </a:r>
            <a:br/>
            <a:r>
              <a:t>✓  Tendance sur 12 mois pour détecter les dérives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749039"/>
            <a:ext cx="5303520" cy="13716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38404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8C00"/>
                </a:solidFill>
                <a:latin typeface="Calibri"/>
              </a:defRPr>
            </a:pPr>
            <a:r>
              <a:t>CE QUI NOUS DIFFÉRENCIE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20624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2B6B"/>
                </a:solidFill>
                <a:latin typeface="Calibri"/>
              </a:defRPr>
            </a:pPr>
            <a:r>
              <a:t>Analyse 360° automatique — 6 requêtes SQL + interprétation LLM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8888"/>
                </a:solidFill>
                <a:latin typeface="Calibri"/>
              </a:defRPr>
            </a:pPr>
            <a:r>
              <a:t>Maintex IA — Intelligence Artificielle — 15/18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   16. Prédiction Stock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669280" cy="1920240"/>
          </a:xfrm>
          <a:prstGeom prst="round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53935"/>
                </a:solidFill>
                <a:latin typeface="Calibri"/>
              </a:defRPr>
            </a:pPr>
            <a:r>
              <a:t>LE PROBLÈME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Les ruptures de stock causent des arrêts prolongés. Les commandes urgentes coûtent 30-50% plus cher et arrivent plus tard.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200400"/>
            <a:ext cx="5669280" cy="19202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3A047"/>
                </a:solidFill>
                <a:latin typeface="Calibri"/>
              </a:defRPr>
            </a:pPr>
            <a:r>
              <a:t>LA SOLUTION MAINTEX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6616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L'IA analyse les niveaux actuels, la consommation historique et les BT planifiés pour alerter AVANT la rupture avec les quantités à commander.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097280"/>
            <a:ext cx="5303520" cy="237744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1887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56DB"/>
                </a:solidFill>
                <a:latin typeface="Calibri"/>
              </a:defRPr>
            </a:pPr>
            <a:r>
              <a:t>BÉNÉFICES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55448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✓  Zéro rupture = zéro arrêt non planifié</a:t>
            </a:r>
            <a:br/>
            <a:r>
              <a:t>✓  Quantités optimales : ne pas sur-stocker ni sous-stocker</a:t>
            </a:r>
            <a:br/>
            <a:r>
              <a:t>✓  Prend en compte les BT planifiés dans la prévision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749039"/>
            <a:ext cx="5303520" cy="13716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38404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8C00"/>
                </a:solidFill>
                <a:latin typeface="Calibri"/>
              </a:defRPr>
            </a:pPr>
            <a:r>
              <a:t>CE QUI NOUS DIFFÉRENCIE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20624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2B6B"/>
                </a:solidFill>
                <a:latin typeface="Calibri"/>
              </a:defRPr>
            </a:pPr>
            <a:r>
              <a:t>Croisement stock actuel + BT planifiés + historique consommation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8888"/>
                </a:solidFill>
                <a:latin typeface="Calibri"/>
              </a:defRPr>
            </a:pPr>
            <a:r>
              <a:t>Maintex IA — Intelligence Artificielle — 16/18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   17. Amélioration Texte &amp; Traduction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669280" cy="1920240"/>
          </a:xfrm>
          <a:prstGeom prst="round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53935"/>
                </a:solidFill>
                <a:latin typeface="Calibri"/>
              </a:defRPr>
            </a:pPr>
            <a:r>
              <a:t>LE PROBLÈME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Les descriptions de BT sont rédigées à la va-vite, avec des fautes et des abréviations. Dans un contexte international, la barrière de la langue freine la communication.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200400"/>
            <a:ext cx="5669280" cy="19202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3A047"/>
                </a:solidFill>
                <a:latin typeface="Calibri"/>
              </a:defRPr>
            </a:pPr>
            <a:r>
              <a:t>LA SOLUTION MAINTEX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6616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Deux boutons sous chaque zone de texte : 'Enrichir' (orthographe, clarté, termes techniques) et 'Traduire' (FR → EN / ES / PT).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097280"/>
            <a:ext cx="5303520" cy="237744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1887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56DB"/>
                </a:solidFill>
                <a:latin typeface="Calibri"/>
              </a:defRPr>
            </a:pPr>
            <a:r>
              <a:t>BÉNÉFICES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55448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✓  Documentation professionnelle sans effort supplémentaire</a:t>
            </a:r>
            <a:br/>
            <a:r>
              <a:t>✓  Communication multilingue facilitée</a:t>
            </a:r>
            <a:br/>
            <a:r>
              <a:t>✓  Vocabulaire technique standardisé automatiquement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749039"/>
            <a:ext cx="5303520" cy="13716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38404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8C00"/>
                </a:solidFill>
                <a:latin typeface="Calibri"/>
              </a:defRPr>
            </a:pPr>
            <a:r>
              <a:t>CE QUI NOUS DIFFÉRENCIE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20624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2B6B"/>
                </a:solidFill>
                <a:latin typeface="Calibri"/>
              </a:defRPr>
            </a:pPr>
            <a:r>
              <a:t>Disponible sur TOUTES les pages avec formulaires — non-intrusif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8888"/>
                </a:solidFill>
                <a:latin typeface="Calibri"/>
              </a:defRPr>
            </a:pPr>
            <a:r>
              <a:t>Maintex IA — Intelligence Artificielle — 17/18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   18. Dashboard &amp; Administration IA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669280" cy="1920240"/>
          </a:xfrm>
          <a:prstGeom prst="round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53935"/>
                </a:solidFill>
                <a:latin typeface="Calibri"/>
              </a:defRPr>
            </a:pPr>
            <a:r>
              <a:t>LE PROBLÈME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Sans visibilité sur l'activité IA, impossible de mesurer le ROI. Sans contrôle sur les prompts, impossible d'adapter l'IA au vocabulaire de l'entreprise.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200400"/>
            <a:ext cx="5669280" cy="19202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3A047"/>
                </a:solidFill>
                <a:latin typeface="Calibri"/>
              </a:defRPr>
            </a:pPr>
            <a:r>
              <a:t>LA SOLUTION MAINTEX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6616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3 pages d'administration : Dashboard IA (KPIs + alertes), KPI Prédictifs (graphiques stratégiques), Templates IA (gestion des prompts sans code).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097280"/>
            <a:ext cx="5303520" cy="237744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1887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56DB"/>
                </a:solidFill>
                <a:latin typeface="Calibri"/>
              </a:defRPr>
            </a:pPr>
            <a:r>
              <a:t>BÉNÉFICES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55448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✓  Pilotage complet : interactions, cache, performances</a:t>
            </a:r>
            <a:br/>
            <a:r>
              <a:t>✓  KPI prédictifs : anticiper, pas juste constater</a:t>
            </a:r>
            <a:br/>
            <a:r>
              <a:t>✓  Personnalisation des prompts sans développeur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749039"/>
            <a:ext cx="5303520" cy="13716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38404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8C00"/>
                </a:solidFill>
                <a:latin typeface="Calibri"/>
              </a:defRPr>
            </a:pPr>
            <a:r>
              <a:t>CE QUI NOUS DIFFÉRENCIE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20624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2B6B"/>
                </a:solidFill>
                <a:latin typeface="Calibri"/>
              </a:defRPr>
            </a:pPr>
            <a:r>
              <a:t>Contrôle total par l'admin — activation/désactivation par fonctionnalité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8888"/>
                </a:solidFill>
                <a:latin typeface="Calibri"/>
              </a:defRPr>
            </a:pPr>
            <a:r>
              <a:t>Maintex IA — Intelligence Artificielle — 18/18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56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Démo Live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2560320"/>
            <a:ext cx="2743200" cy="36576"/>
          </a:xfrm>
          <a:prstGeom prst="rect">
            <a:avLst/>
          </a:prstGeom>
          <a:solidFill>
            <a:srgbClr val="BB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DE8FF"/>
                </a:solidFill>
                <a:latin typeface="Calibri"/>
              </a:defRPr>
            </a:pPr>
            <a:r>
              <a:t>Voyons ces fonctionnalités en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D5FF"/>
                </a:solidFill>
                <a:latin typeface="Calibri"/>
              </a:defRPr>
            </a:pPr>
            <a:r>
              <a:t>Chatbot  •  Diagnostic  •  Recherche NL  •  Score Santé  •  Score Qualité</a:t>
            </a:r>
            <a:br/>
            <a:r>
              <a:t>Cycle de Vie  •  Anomalies  •  BT Prédictifs  •  Checklists  •  PDF → Gammes</a:t>
            </a:r>
            <a:br/>
            <a:r>
              <a:t>Asset Snap  •  Photo-to-Part  •  Suggestion Technicien  •  Rapports IA</a:t>
            </a:r>
            <a:br/>
            <a:r>
              <a:t>Fournisseurs  •  Stock  •  Enrichir/Traduire  •  Dashboard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 Pour qui ? Les gains par profil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474720" cy="384048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Calibri"/>
              </a:defRPr>
            </a:pPr>
            <a:r>
              <a:t>Techniciens terrain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Chatbot IA — réponse instantanée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Diagnostic — résolution rapide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Checklists — gammes en 30s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Asset Snap — fiche en 1 photo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Enrichir/Traduire — texte pro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188720"/>
            <a:ext cx="3474720" cy="384048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480560" y="1280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3A047"/>
                </a:solidFill>
                <a:latin typeface="Calibri"/>
              </a:defRPr>
            </a:pPr>
            <a:r>
              <a:t>Responsables maintenance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82880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BT Prédictifs — anticiper pannes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Score santé — vision du parc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Suggestion technicien — optimal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Procédures PDF — capitaliser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Anomalies — alertes proactives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188720"/>
            <a:ext cx="3474720" cy="384048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21040" y="1280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8C00"/>
                </a:solidFill>
                <a:latin typeface="Calibri"/>
              </a:defRPr>
            </a:pPr>
            <a:r>
              <a:t>Direction / Gestion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82880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Rapports IA — 7 domaines + drill-down + voix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Dashboard KPI — vision stratégique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Fournisseurs — évaluation objective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Prédiction stock — optimiser capital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Cycle de vie — aide décision budget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3035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56DB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7607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fonctionnalités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53035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56DB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57607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dépendance cloud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53035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56DB"/>
                </a:solidFill>
                <a:latin typeface="Calibri"/>
              </a:defRPr>
            </a:pPr>
            <a:r>
              <a:t>&lt; 1s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57607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score santé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53035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56DB"/>
                </a:solidFill>
                <a:latin typeface="Calibri"/>
              </a:defRPr>
            </a:pPr>
            <a:r>
              <a:t>30s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57607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gamme 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53035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56DB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57607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niveaux de cache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53035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56DB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57607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langues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309360"/>
            <a:ext cx="109728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8888"/>
                </a:solidFill>
                <a:latin typeface="Calibri"/>
              </a:defRPr>
            </a:pPr>
            <a:r>
              <a:rPr dirty="0" err="1"/>
              <a:t>Maintex</a:t>
            </a:r>
            <a:r>
              <a:rPr dirty="0"/>
              <a:t> IA — Intelligence </a:t>
            </a:r>
            <a:r>
              <a:rPr dirty="0" err="1"/>
              <a:t>Artificielle</a:t>
            </a:r>
            <a:r>
              <a:rPr dirty="0"/>
              <a:t> — BBC </a:t>
            </a:r>
            <a:r>
              <a:rPr lang="en-US" dirty="0"/>
              <a:t>&amp; </a:t>
            </a:r>
            <a:r>
              <a:rPr dirty="0"/>
              <a:t>Partners — </a:t>
            </a:r>
            <a:r>
              <a:rPr dirty="0" err="1"/>
              <a:t>Confidentiel</a:t>
            </a:r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 Positionnement concurrentiel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06424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9827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Capacité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Maintex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MaintainX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UpKeep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Limble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827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Multi-modèle IA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827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Diagnostic SDR natif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827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Score qualité BT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827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BT Prédictifs + 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827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Asset Snap (photo → fiche)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9827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Extraction procédures PDF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9827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Rapports NL 7 domaines + insights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Partiel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dirty="0"/>
                        <a:t>❌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9827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Drill-down conversationnel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9827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Saisie vocale rapports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Payant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9827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Suggestion technicien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9827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dirty="0" err="1"/>
                        <a:t>Hébergement</a:t>
                      </a:r>
                      <a:r>
                        <a:rPr dirty="0"/>
                        <a:t> on-premise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9836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Données 100% privées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dirty="0"/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1486" y="6505396"/>
            <a:ext cx="109728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8888"/>
                </a:solidFill>
                <a:latin typeface="Calibri"/>
              </a:defRPr>
            </a:pPr>
            <a:r>
              <a:rPr dirty="0" err="1"/>
              <a:t>Maintex</a:t>
            </a:r>
            <a:r>
              <a:rPr dirty="0"/>
              <a:t> IA — Intelligence </a:t>
            </a:r>
            <a:r>
              <a:rPr dirty="0" err="1"/>
              <a:t>Artificielle</a:t>
            </a:r>
            <a:r>
              <a:rPr dirty="0"/>
              <a:t> — BBC </a:t>
            </a:r>
            <a:r>
              <a:rPr lang="en-US" dirty="0"/>
              <a:t>&amp; </a:t>
            </a:r>
            <a:r>
              <a:rPr dirty="0"/>
              <a:t>Partners — </a:t>
            </a:r>
            <a:r>
              <a:rPr dirty="0" err="1"/>
              <a:t>Confidentiel</a:t>
            </a:r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56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Prêts à transformer votre maintenance 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2743200"/>
            <a:ext cx="2743200" cy="36576"/>
          </a:xfrm>
          <a:prstGeom prst="rect">
            <a:avLst/>
          </a:prstGeom>
          <a:solidFill>
            <a:srgbClr val="BB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DE8FF"/>
                </a:solidFill>
                <a:latin typeface="Calibri"/>
              </a:defRPr>
            </a:pPr>
            <a:r>
              <a:rPr dirty="0"/>
              <a:t>18 </a:t>
            </a:r>
            <a:r>
              <a:rPr dirty="0" err="1"/>
              <a:t>fonctionnalités</a:t>
            </a:r>
            <a:r>
              <a:rPr dirty="0"/>
              <a:t> IA  •  </a:t>
            </a:r>
            <a:r>
              <a:rPr dirty="0" err="1"/>
              <a:t>Données</a:t>
            </a:r>
            <a:r>
              <a:rPr dirty="0"/>
              <a:t> </a:t>
            </a:r>
            <a:r>
              <a:rPr dirty="0" err="1"/>
              <a:t>privées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BBC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D5FF"/>
                </a:solidFill>
                <a:latin typeface="Calibri"/>
              </a:defRPr>
            </a:pPr>
            <a:r>
              <a:rPr dirty="0" err="1"/>
              <a:t>www.</a:t>
            </a:r>
            <a:r>
              <a:rPr err="1"/>
              <a:t>maintex</a:t>
            </a:r>
            <a:r>
              <a:t>.</a:t>
            </a:r>
            <a:r>
              <a:rPr lang="en-US"/>
              <a:t>fr</a:t>
            </a:r>
            <a:r>
              <a:t>  </a:t>
            </a:r>
            <a:r>
              <a:rPr dirty="0"/>
              <a:t>•  </a:t>
            </a:r>
            <a:r>
              <a:rPr dirty="0" err="1"/>
              <a:t>contact@bbc-partners.com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BBFF"/>
                </a:solidFill>
                <a:latin typeface="Calibri"/>
              </a:defRPr>
            </a:pPr>
            <a:r>
              <a:t>Demandez une démonstration personnalisée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707</TotalTime>
  <Words>2619</Words>
  <Application>Microsoft Macintosh PowerPoint</Application>
  <PresentationFormat>Grand écran</PresentationFormat>
  <Paragraphs>300</Paragraphs>
  <Slides>24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Utilisateur Microsoft Office</cp:lastModifiedBy>
  <cp:revision>11</cp:revision>
  <dcterms:created xsi:type="dcterms:W3CDTF">2013-01-27T09:14:16Z</dcterms:created>
  <dcterms:modified xsi:type="dcterms:W3CDTF">2026-04-28T08:31:19Z</dcterms:modified>
  <cp:category/>
</cp:coreProperties>
</file>